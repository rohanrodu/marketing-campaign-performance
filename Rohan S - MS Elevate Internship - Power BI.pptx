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  <p:sldMasterId id="2147483659" r:id="rId4"/>
  </p:sldMasterIdLst>
  <p:notesMasterIdLst>
    <p:notesMasterId r:id="rId6"/>
  </p:notesMasterIdLst>
  <p:sldIdLst>
    <p:sldId id="256" r:id="rId5"/>
    <p:sldId id="571" r:id="rId7"/>
    <p:sldId id="572" r:id="rId8"/>
    <p:sldId id="573" r:id="rId9"/>
    <p:sldId id="581" r:id="rId10"/>
    <p:sldId id="574" r:id="rId11"/>
    <p:sldId id="575" r:id="rId12"/>
    <p:sldId id="582" r:id="rId13"/>
    <p:sldId id="580" r:id="rId14"/>
    <p:sldId id="576" r:id="rId15"/>
    <p:sldId id="577" r:id="rId16"/>
    <p:sldId id="579" r:id="rId17"/>
    <p:sldId id="578" r:id="rId18"/>
    <p:sldId id="536" r:id="rId19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26" userDrawn="1">
          <p15:clr>
            <a:srgbClr val="A4A3A4"/>
          </p15:clr>
        </p15:guide>
        <p15:guide id="3" orient="horz" pos="9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 showGuides="1">
      <p:cViewPr>
        <p:scale>
          <a:sx n="70" d="100"/>
          <a:sy n="70" d="100"/>
        </p:scale>
        <p:origin x="1051" y="230"/>
      </p:cViewPr>
      <p:guideLst>
        <p:guide orient="horz" pos="672"/>
        <p:guide pos="326"/>
        <p:guide orient="horz" pos="9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gs" Target="tags/tag5.xml"/><Relationship Id="rId23" Type="http://schemas.microsoft.com/office/2018/10/relationships/authors" Target="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altLang="en-GB" sz="5100" b="1" dirty="0">
                <a:latin typeface="Aptos"/>
              </a:rPr>
              <a:t>Marketing Campaign Performance</a:t>
            </a:r>
            <a:endParaRPr lang="en-US" altLang="en-GB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rohan S 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UBDT College of engineering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US" sz="1600" b="1" cap="all" dirty="0" err="1"/>
              <a:t>cse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rohanrodu@gmail.com</a:t>
            </a:r>
            <a:endParaRPr lang="en-US" sz="1600" b="1" cap="all" dirty="0"/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IMG_20260121_2319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385" y="484505"/>
            <a:ext cx="5394960" cy="5778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Problem Statement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System Development Approach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 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4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400" dirty="0">
              <a:latin typeface="Arial" panose="020B0604020202020204"/>
              <a:cs typeface="Arial" panose="020B0604020202020204"/>
            </a:endParaRPr>
          </a:p>
          <a:p>
            <a:endParaRPr lang="en-US" sz="24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400" dirty="0">
                <a:latin typeface="Franklin Gothic Book" panose="020B0503020102020204"/>
              </a:rPr>
              <a:t>O</a:t>
            </a:r>
            <a:r>
              <a:rPr sz="2400">
                <a:sym typeface="+mn-ea"/>
              </a:rPr>
              <a:t>rganizations run multiple marketing campaigns without clear insight into effectivenes</a:t>
            </a:r>
            <a:r>
              <a:rPr lang="en-US" sz="2400">
                <a:sym typeface="+mn-ea"/>
              </a:rPr>
              <a:t>s.</a:t>
            </a:r>
            <a:endParaRPr lang="en-US" sz="2400" dirty="0">
              <a:latin typeface="Franklin Gothic Book" panose="020B0503020102020204"/>
            </a:endParaRPr>
          </a:p>
          <a:p>
            <a:pPr algn="just"/>
            <a:r>
              <a:rPr lang="en-US" sz="2400" dirty="0">
                <a:latin typeface="Franklin Gothic Book" panose="020B0503020102020204"/>
              </a:rPr>
              <a:t>D</a:t>
            </a:r>
            <a:r>
              <a:rPr sz="2400">
                <a:sym typeface="+mn-ea"/>
              </a:rPr>
              <a:t>ifficulty identifying high-value customers and successful channel</a:t>
            </a:r>
            <a:r>
              <a:rPr lang="en-US" sz="2400">
                <a:sym typeface="+mn-ea"/>
              </a:rPr>
              <a:t>s.</a:t>
            </a:r>
            <a:endParaRPr lang="en-US" sz="2400" dirty="0">
              <a:latin typeface="Franklin Gothic Book" panose="020B0503020102020204"/>
            </a:endParaRPr>
          </a:p>
          <a:p>
            <a:pPr algn="just"/>
            <a:r>
              <a:rPr lang="en-US" sz="2400" dirty="0">
                <a:latin typeface="Franklin Gothic Book" panose="020B0503020102020204"/>
              </a:rPr>
              <a:t>N</a:t>
            </a:r>
            <a:r>
              <a:rPr sz="2400">
                <a:sym typeface="+mn-ea"/>
              </a:rPr>
              <a:t>eed for data-driven decision makin</a:t>
            </a:r>
            <a:r>
              <a:rPr lang="en-US" sz="2400">
                <a:sym typeface="+mn-ea"/>
              </a:rPr>
              <a:t>g.</a:t>
            </a:r>
            <a:endParaRPr lang="en-US" sz="2400">
              <a:sym typeface="+mn-ea"/>
            </a:endParaRPr>
          </a:p>
          <a:p>
            <a:pPr algn="just"/>
            <a:r>
              <a:rPr lang="en-US" altLang="en-GB" sz="2400" dirty="0">
                <a:latin typeface="Franklin Gothic Book" panose="020B0503020102020204"/>
              </a:rPr>
              <a:t>To identify key factors influencing the success or failure of marketing campaigns.</a:t>
            </a:r>
            <a:endParaRPr lang="en-US" altLang="en-GB" sz="24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" y="68072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786255"/>
            <a:ext cx="10515600" cy="42716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en-GB" sz="2500" b="1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Data Driven</a:t>
            </a:r>
            <a:r>
              <a:rPr lang="en-US" altLang="en-GB" sz="25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: Leveraging marketing campaign datasets containing customer demographics, campaign details, channel information, and response metrics.</a:t>
            </a:r>
            <a:endParaRPr lang="en-US" altLang="en-GB" sz="25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en-GB" sz="2500" b="1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Preprocessing</a:t>
            </a:r>
            <a:r>
              <a:rPr lang="en-US" altLang="en-GB" sz="25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: Cleaning and transforming data in Power Query by handling missing values, removing duplicates, and standardizing formats for accurate analysis.</a:t>
            </a:r>
            <a:endParaRPr lang="en-US" altLang="en-GB" sz="25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en-GB" sz="2500" b="1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Data Modeling</a:t>
            </a:r>
            <a:r>
              <a:rPr lang="en-US" altLang="en-GB" sz="25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: Building a structured data model with relationships between customer, campaign, product, and time tables.</a:t>
            </a:r>
            <a:endParaRPr lang="en-US" altLang="en-GB" sz="25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en-GB" sz="2500" b="1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KPI Definition</a:t>
            </a:r>
            <a:r>
              <a:rPr lang="en-US" altLang="en-GB" sz="25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</a:rPr>
              <a:t>: Creating key performance indicators such as impressions, CTR, conversion rate, campaign cost, and ROI using DAX measures.</a:t>
            </a:r>
            <a:endParaRPr lang="en-US" altLang="en-GB" sz="25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US" altLang="en-GB" sz="25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" y="68072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786255"/>
            <a:ext cx="10515600" cy="42716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en-GB" sz="25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  <a:sym typeface="+mn-ea"/>
              </a:rPr>
              <a:t>Optimization: Analyzing campaign performance across channels and segments to identify high-performing strategies and areas for improvement.</a:t>
            </a:r>
            <a:endParaRPr lang="en-US" altLang="en-GB" sz="25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en-GB" sz="25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  <a:sym typeface="+mn-ea"/>
              </a:rPr>
              <a:t>Visualization: Developing interactive Power BI dashboards with slicers, drill-down, and drill-through features for detailed insights.</a:t>
            </a:r>
            <a:endParaRPr lang="en-US" altLang="en-GB" sz="25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en-GB" sz="2500" dirty="0">
                <a:latin typeface="Franklin Gothic Book" panose="020B0503020102020204" pitchFamily="34" charset="0"/>
                <a:ea typeface="Calibri" panose="020F0502020204030204"/>
                <a:cs typeface="Calibri" panose="020F0502020204030204"/>
                <a:sym typeface="+mn-ea"/>
              </a:rPr>
              <a:t>Decision Support: Enabling data-driven marketing decisions by providing actionable insights to optimize future campaigns and budget allocation.</a:t>
            </a:r>
            <a:endParaRPr lang="en-US" altLang="en-GB" sz="2500" dirty="0">
              <a:latin typeface="Franklin Gothic Book" panose="020B0503020102020204" pitchFamily="34" charset="0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lnSpcReduction="20000"/>
          </a:bodyPr>
          <a:lstStyle/>
          <a:p>
            <a:r>
              <a:rPr lang="en-IN" b="1" dirty="0">
                <a:latin typeface="Franklin Gothic Book" panose="020B0503020102020204" pitchFamily="34" charset="0"/>
              </a:rPr>
              <a:t>System Requirements: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>
                <a:latin typeface="Franklin Gothic Book" panose="020B0503020102020204" pitchFamily="34" charset="0"/>
              </a:rPr>
              <a:t>Python 3.x Environment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 err="1">
                <a:latin typeface="Franklin Gothic Book" panose="020B0503020102020204" pitchFamily="34" charset="0"/>
              </a:rPr>
              <a:t>Jupyter</a:t>
            </a:r>
            <a:r>
              <a:rPr lang="en-IN" dirty="0">
                <a:latin typeface="Franklin Gothic Book" panose="020B0503020102020204" pitchFamily="34" charset="0"/>
              </a:rPr>
              <a:t> Notebook or VS Code</a:t>
            </a:r>
            <a:r>
              <a:rPr lang="en-US" altLang="en-IN" dirty="0">
                <a:latin typeface="Franklin Gothic Book" panose="020B0503020102020204" pitchFamily="34" charset="0"/>
              </a:rPr>
              <a:t> or Google colab</a:t>
            </a:r>
            <a:endParaRPr lang="en-US" altLang="en-IN" dirty="0">
              <a:latin typeface="Franklin Gothic Book" panose="020B0503020102020204" pitchFamily="34" charset="0"/>
            </a:endParaRPr>
          </a:p>
          <a:p>
            <a:pPr lvl="1"/>
            <a:r>
              <a:rPr>
                <a:sym typeface="+mn-ea"/>
              </a:rPr>
              <a:t>Power BI</a:t>
            </a:r>
            <a:endParaRPr lang="en-US" altLang="en-IN" dirty="0">
              <a:latin typeface="Franklin Gothic Book" panose="020B0503020102020204" pitchFamily="34" charset="0"/>
              <a:sym typeface="+mn-ea"/>
            </a:endParaRPr>
          </a:p>
          <a:p>
            <a:pPr lvl="1"/>
            <a:r>
              <a:rPr lang="en-US" altLang="en-IN" dirty="0">
                <a:latin typeface="Franklin Gothic Book" panose="020B0503020102020204" pitchFamily="34" charset="0"/>
              </a:rPr>
              <a:t>CSV Dataset</a:t>
            </a:r>
            <a:endParaRPr lang="en-US" altLang="en-IN" dirty="0">
              <a:latin typeface="Franklin Gothic Book" panose="020B0503020102020204" pitchFamily="34" charset="0"/>
            </a:endParaRPr>
          </a:p>
          <a:p>
            <a:pPr marL="457200" lvl="1" indent="0">
              <a:buNone/>
            </a:pPr>
            <a:endParaRPr lang="en-IN" dirty="0">
              <a:latin typeface="Franklin Gothic Book" panose="020B0503020102020204" pitchFamily="34" charset="0"/>
            </a:endParaRPr>
          </a:p>
          <a:p>
            <a:r>
              <a:rPr lang="en-IN" b="1" dirty="0">
                <a:latin typeface="Franklin Gothic Book" panose="020B0503020102020204" pitchFamily="34" charset="0"/>
              </a:rPr>
              <a:t>Libraries Required: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>
                <a:latin typeface="Franklin Gothic Book" panose="020B0503020102020204" pitchFamily="34" charset="0"/>
              </a:rPr>
              <a:t>Pandas: For data manipulation and CSV handling.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IN" dirty="0">
                <a:latin typeface="Franklin Gothic Book" panose="020B0503020102020204" pitchFamily="34" charset="0"/>
              </a:rPr>
              <a:t>NumPy: For numerical computations and array processing.</a:t>
            </a:r>
            <a:endParaRPr lang="en-IN" dirty="0">
              <a:latin typeface="Franklin Gothic Book" panose="020B0503020102020204" pitchFamily="34" charset="0"/>
            </a:endParaRPr>
          </a:p>
          <a:p>
            <a:pPr lvl="1"/>
            <a:r>
              <a:rPr lang="en-US" altLang="en-GB" dirty="0">
                <a:latin typeface="Franklin Gothic Book" panose="020B0503020102020204" pitchFamily="34" charset="0"/>
              </a:rPr>
              <a:t>Matplotlib: For creating customizable and low-level data visualizations.</a:t>
            </a:r>
            <a:endParaRPr lang="en-US" altLang="en-GB" dirty="0">
              <a:latin typeface="Franklin Gothic Book" panose="020B0503020102020204" pitchFamily="34" charset="0"/>
            </a:endParaRPr>
          </a:p>
          <a:p>
            <a:pPr lvl="1"/>
            <a:r>
              <a:rPr lang="en-US" altLang="en-GB" dirty="0">
                <a:latin typeface="Franklin Gothic Book" panose="020B0503020102020204" pitchFamily="34" charset="0"/>
              </a:rPr>
              <a:t>Seaborn: For statistical data visualization with attractive, high-level plots built on Matplotlib.</a:t>
            </a:r>
            <a:endParaRPr lang="en-US" altLang="en-GB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260"/>
            <a:ext cx="10515600" cy="447294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2500" b="1" dirty="0">
                <a:latin typeface="Franklin Gothic Book" panose="020B0503020102020204" pitchFamily="34" charset="0"/>
              </a:rPr>
              <a:t>Algorithm</a:t>
            </a:r>
            <a:r>
              <a:rPr lang="en-IN" sz="2500" dirty="0">
                <a:latin typeface="Franklin Gothic Book" panose="020B0503020102020204" pitchFamily="34" charset="0"/>
              </a:rPr>
              <a:t>.</a:t>
            </a:r>
            <a:endParaRPr lang="en-IN" sz="25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Import marketing campaign data into Power BI from sources such as CSV files, Excel, or databases.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Clean and preprocess the data using Power Query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Build relationships between relevant tables 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Create calculated columns and DAX measures to compute KPIs like CTR, conversion rate, cost per lead, and ROI.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Analyze campaign performance across different dimensions such as time, region, customer segment, and channel.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Visualize insights using charts, tables, slicers, and KPI cards in Power BI.</a:t>
            </a:r>
            <a:endParaRPr lang="en-US" altLang="en-GB" sz="2400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260"/>
            <a:ext cx="10515600" cy="447294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IN" sz="2500" b="1" dirty="0">
                <a:latin typeface="Franklin Gothic Book" panose="020B0503020102020204" pitchFamily="34" charset="0"/>
              </a:rPr>
              <a:t>Deployment</a:t>
            </a:r>
            <a:r>
              <a:rPr lang="en-IN" sz="2500" dirty="0">
                <a:latin typeface="Franklin Gothic Book" panose="020B0503020102020204" pitchFamily="34" charset="0"/>
              </a:rPr>
              <a:t>.</a:t>
            </a:r>
            <a:endParaRPr lang="en-IN" sz="25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Publish the Power BI report to the Power BI Service.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Configure datasets and set up scheduled data refresh to keep reports up to date.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Create and share interactive dashboards with stakeholders using workspace access.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Apply row-level security (RLS) to restrict data visibility based on user roles.</a:t>
            </a:r>
            <a:endParaRPr lang="en-US" altLang="en-GB" sz="2400" dirty="0">
              <a:latin typeface="Franklin Gothic Book" panose="020B05030201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GB" sz="2400" dirty="0">
                <a:latin typeface="Franklin Gothic Book" panose="020B0503020102020204" pitchFamily="34" charset="0"/>
              </a:rPr>
              <a:t>Access dashboards via web or mobile devices for real-time monitoring of campaign performance.</a:t>
            </a:r>
            <a:endParaRPr lang="en-US" altLang="en-GB" sz="2400" dirty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61035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95" y="1441450"/>
            <a:ext cx="9625965" cy="5006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2726" t="2893" r="7552" b="2430"/>
          <a:stretch>
            <a:fillRect/>
          </a:stretch>
        </p:blipFill>
        <p:spPr>
          <a:xfrm>
            <a:off x="8121015" y="1986915"/>
            <a:ext cx="3636010" cy="37611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0085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50" y="1428115"/>
            <a:ext cx="10351135" cy="4984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" y="67364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just"/>
            <a:r>
              <a:rPr lang="en-US" altLang="en-GB" sz="2400" dirty="0">
                <a:latin typeface="Franklin Gothic Book" panose="020B0503020102020204"/>
              </a:rPr>
              <a:t>The Marketing Campaign Performance analysis using Power BI provides clear visibility into campaign effectiveness and customer behavior.</a:t>
            </a:r>
            <a:endParaRPr lang="en-US" altLang="en-GB" sz="2400" dirty="0">
              <a:latin typeface="Franklin Gothic Book" panose="020B0503020102020204"/>
            </a:endParaRPr>
          </a:p>
          <a:p>
            <a:pPr algn="just"/>
            <a:endParaRPr lang="en-US" altLang="en-GB" sz="2400" dirty="0">
              <a:latin typeface="Franklin Gothic Book" panose="020B0503020102020204"/>
            </a:endParaRPr>
          </a:p>
          <a:p>
            <a:pPr algn="just"/>
            <a:r>
              <a:rPr lang="en-US" altLang="en-GB" sz="2400" dirty="0">
                <a:latin typeface="Franklin Gothic Book" panose="020B0503020102020204"/>
              </a:rPr>
              <a:t>Interactive dashboards and KPIs enable stakeholders to quickly identify high-performing and underperforming campaigns.</a:t>
            </a:r>
            <a:endParaRPr lang="en-US" altLang="en-GB" sz="2400" dirty="0">
              <a:latin typeface="Franklin Gothic Book" panose="020B0503020102020204"/>
            </a:endParaRPr>
          </a:p>
          <a:p>
            <a:pPr algn="just"/>
            <a:endParaRPr lang="en-US" altLang="en-GB" sz="2400" dirty="0">
              <a:latin typeface="Franklin Gothic Book" panose="020B0503020102020204"/>
            </a:endParaRPr>
          </a:p>
          <a:p>
            <a:pPr algn="just"/>
            <a:r>
              <a:rPr lang="en-US" altLang="en-GB" sz="2400" dirty="0">
                <a:latin typeface="Franklin Gothic Book" panose="020B0503020102020204"/>
              </a:rPr>
              <a:t>Data-driven insights support better decision-making, improved budget allocation, and optimized marketing strategies.</a:t>
            </a:r>
            <a:endParaRPr lang="en-US" altLang="en-GB" sz="2400" dirty="0">
              <a:latin typeface="Franklin Gothic Book" panose="020B0503020102020204"/>
            </a:endParaRPr>
          </a:p>
          <a:p>
            <a:pPr algn="just"/>
            <a:endParaRPr lang="en-US" altLang="en-GB" sz="2400" dirty="0">
              <a:latin typeface="Franklin Gothic Book" panose="020B0503020102020204"/>
            </a:endParaRPr>
          </a:p>
          <a:p>
            <a:pPr algn="just"/>
            <a:r>
              <a:rPr lang="en-US" altLang="en-GB" sz="2400" dirty="0">
                <a:latin typeface="Franklin Gothic Book" panose="020B0503020102020204"/>
              </a:rPr>
              <a:t>Power BI’s visualization and reporting capabilities simplify complex data into actionable business intelligence.</a:t>
            </a:r>
            <a:endParaRPr lang="en-US" altLang="en-GB" sz="24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" y="683169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970" y="1525905"/>
            <a:ext cx="10515600" cy="4405630"/>
          </a:xfrm>
        </p:spPr>
        <p:txBody>
          <a:bodyPr vert="horz" lIns="91440" tIns="45720" rIns="91440" bIns="45720" rtlCol="0"/>
          <a:lstStyle/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en-GB" sz="2400" dirty="0">
                <a:latin typeface="Franklin Gothic Book" panose="020B0503020102020204"/>
              </a:rPr>
              <a:t>Integrate real-time data sources to enable live campaign performance tracking.</a:t>
            </a:r>
            <a:endParaRPr lang="en-US" altLang="en-GB" sz="2400" dirty="0">
              <a:latin typeface="Franklin Gothic Book" panose="020B0503020102020204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endParaRPr lang="en-US" altLang="en-GB" sz="2400" dirty="0">
              <a:latin typeface="Franklin Gothic Book" panose="020B0503020102020204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en-GB" sz="2400" dirty="0">
                <a:latin typeface="Franklin Gothic Book" panose="020B0503020102020204"/>
              </a:rPr>
              <a:t>Incorporate advanced analytics and machine learning models for campaign response prediction.</a:t>
            </a:r>
            <a:endParaRPr lang="en-US" altLang="en-GB" sz="2400" dirty="0">
              <a:latin typeface="Franklin Gothic Book" panose="020B0503020102020204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endParaRPr lang="en-US" altLang="en-GB" sz="2400" dirty="0">
              <a:latin typeface="Franklin Gothic Book" panose="020B0503020102020204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en-GB" sz="2400" dirty="0">
                <a:latin typeface="Franklin Gothic Book" panose="020B0503020102020204"/>
              </a:rPr>
              <a:t>Expand customer segmentation using behavioral and predictive analytics.</a:t>
            </a:r>
            <a:endParaRPr lang="en-US" altLang="en-GB" sz="2400" dirty="0">
              <a:latin typeface="Franklin Gothic Book" panose="020B0503020102020204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endParaRPr lang="en-US" altLang="en-GB" sz="2400" dirty="0">
              <a:latin typeface="Franklin Gothic Book" panose="020B0503020102020204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en-GB" sz="2400" dirty="0">
                <a:latin typeface="Franklin Gothic Book" panose="020B0503020102020204"/>
              </a:rPr>
              <a:t>Automate insights and alerts for performance thresholds using Power BI Service.</a:t>
            </a:r>
            <a:endParaRPr lang="en-US" altLang="en-GB" sz="2400" dirty="0">
              <a:latin typeface="Franklin Gothic Book" panose="020B0503020102020204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endParaRPr lang="en-US" altLang="en-GB" sz="2400" dirty="0">
              <a:latin typeface="Franklin Gothic Book" panose="020B0503020102020204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en-GB" sz="2400" dirty="0">
                <a:latin typeface="Franklin Gothic Book" panose="020B0503020102020204"/>
              </a:rPr>
              <a:t>Integrate additional data sources such as social media and web analytics for deeper marketing insights.</a:t>
            </a:r>
            <a:endParaRPr lang="en-US" altLang="en-GB" sz="24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7364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50" y="1551305"/>
            <a:ext cx="10515600" cy="4569460"/>
          </a:xfrm>
        </p:spPr>
        <p:txBody>
          <a:bodyPr vert="horz" lIns="91440" tIns="45720" rIns="91440" bIns="45720" rtlCol="0" anchor="t">
            <a:normAutofit fontScale="90000" lnSpcReduction="10000"/>
          </a:bodyPr>
          <a:lstStyle/>
          <a:p>
            <a:pPr marL="457200" indent="-457200" algn="just">
              <a:lnSpc>
                <a:spcPct val="11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en-GB" sz="2400" dirty="0">
                <a:latin typeface="Franklin Gothic Book" panose="020B0503020102020204"/>
              </a:rPr>
              <a:t>Chandra Pratap Singh; Rizwan Yousuf</a:t>
            </a:r>
            <a:r>
              <a:rPr lang="en-IN" sz="2400" dirty="0">
                <a:latin typeface="Franklin Gothic Book" panose="020B0503020102020204"/>
              </a:rPr>
              <a:t> et al. (202</a:t>
            </a:r>
            <a:r>
              <a:rPr lang="en-US" altLang="en-IN" sz="2400" dirty="0">
                <a:latin typeface="Franklin Gothic Book" panose="020B0503020102020204"/>
              </a:rPr>
              <a:t>4</a:t>
            </a:r>
            <a:r>
              <a:rPr lang="en-IN" sz="2400" dirty="0">
                <a:latin typeface="Franklin Gothic Book" panose="020B0503020102020204"/>
              </a:rPr>
              <a:t>): "</a:t>
            </a:r>
            <a:r>
              <a:rPr lang="en-US" altLang="en-GB" sz="2400" dirty="0">
                <a:latin typeface="Franklin Gothic Book" panose="020B0503020102020204"/>
              </a:rPr>
              <a:t>Enhancing Marketing Strategies Through Big Data-Driven Customer Journey Mapping: An Analysis Using Machine Learning Algorithms,</a:t>
            </a:r>
            <a:r>
              <a:rPr lang="en-IN" sz="2400" dirty="0">
                <a:latin typeface="Franklin Gothic Book" panose="020B0503020102020204"/>
              </a:rPr>
              <a:t>" </a:t>
            </a:r>
            <a:r>
              <a:rPr lang="en-IN" sz="2400" dirty="0">
                <a:latin typeface="Franklin Gothic Book" panose="020B0503020102020204"/>
                <a:sym typeface="+mn-ea"/>
              </a:rPr>
              <a:t>IEEE Access</a:t>
            </a:r>
            <a:r>
              <a:rPr lang="en-US" altLang="en-IN" sz="2400" dirty="0">
                <a:latin typeface="Franklin Gothic Book" panose="020B0503020102020204"/>
                <a:sym typeface="+mn-ea"/>
              </a:rPr>
              <a:t>. </a:t>
            </a:r>
            <a:r>
              <a:rPr lang="en-US" altLang="en-GB" sz="2400" dirty="0">
                <a:latin typeface="Franklin Gothic Book" panose="020B0503020102020204"/>
              </a:rPr>
              <a:t>DOI: 10.1109/INNOCOMP63224.2024.00084</a:t>
            </a:r>
            <a:r>
              <a:rPr lang="en-IN" sz="2400" dirty="0">
                <a:latin typeface="Franklin Gothic Book" panose="020B0503020102020204"/>
              </a:rPr>
              <a:t>.</a:t>
            </a:r>
            <a:endParaRPr lang="en-IN" sz="2400" dirty="0">
              <a:latin typeface="Franklin Gothic Book" panose="020B0503020102020204"/>
            </a:endParaRP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altLang="en-GB" sz="2400" dirty="0">
                <a:latin typeface="Franklin Gothic Book" panose="020B0503020102020204"/>
              </a:rPr>
              <a:t>Milena Vuckovic; Dawid Wolosiuk; Johanna Schmidt</a:t>
            </a:r>
            <a:r>
              <a:rPr lang="en-IN" sz="2400" dirty="0">
                <a:latin typeface="Franklin Gothic Book" panose="020B0503020102020204"/>
              </a:rPr>
              <a:t>. et al. (20</a:t>
            </a:r>
            <a:r>
              <a:rPr lang="en-US" altLang="en-IN" sz="2400" dirty="0">
                <a:latin typeface="Franklin Gothic Book" panose="020B0503020102020204"/>
              </a:rPr>
              <a:t>24</a:t>
            </a:r>
            <a:r>
              <a:rPr lang="en-IN" sz="2400" dirty="0">
                <a:latin typeface="Franklin Gothic Book" panose="020B0503020102020204"/>
              </a:rPr>
              <a:t>): "</a:t>
            </a:r>
            <a:r>
              <a:rPr lang="en-US" altLang="en-GB" sz="2400" dirty="0">
                <a:latin typeface="Franklin Gothic Book" panose="020B0503020102020204"/>
              </a:rPr>
              <a:t>Designing Interactive Analytics Dashboards for Diverse Target Groups: The Process and Decision-Making,</a:t>
            </a:r>
            <a:r>
              <a:rPr lang="en-IN" sz="2400" dirty="0">
                <a:latin typeface="Franklin Gothic Book" panose="020B0503020102020204"/>
              </a:rPr>
              <a:t>" IEEE Access</a:t>
            </a:r>
            <a:r>
              <a:rPr lang="en-US" altLang="en-IN" sz="2400" dirty="0">
                <a:latin typeface="Franklin Gothic Book" panose="020B0503020102020204"/>
              </a:rPr>
              <a:t>. </a:t>
            </a:r>
            <a:r>
              <a:rPr lang="en-US" altLang="en-GB" sz="2400" dirty="0">
                <a:latin typeface="Franklin Gothic Book" panose="020B0503020102020204"/>
                <a:sym typeface="+mn-ea"/>
              </a:rPr>
              <a:t>DOI:</a:t>
            </a:r>
            <a:r>
              <a:rPr lang="en-US" altLang="en-GB" sz="2400" dirty="0">
                <a:latin typeface="Franklin Gothic Book" panose="020B0503020102020204"/>
              </a:rPr>
              <a:t>10.23919/SpliTech61897.2024.10612622</a:t>
            </a:r>
            <a:r>
              <a:rPr lang="en-IN" sz="2400" dirty="0">
                <a:latin typeface="Franklin Gothic Book" panose="020B0503020102020204"/>
              </a:rPr>
              <a:t>.</a:t>
            </a:r>
            <a:endParaRPr lang="en-IN" sz="2400" dirty="0">
              <a:latin typeface="Franklin Gothic Book" panose="020B0503020102020204"/>
            </a:endParaRP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US" altLang="en-GB" sz="2400" dirty="0">
                <a:latin typeface="Franklin Gothic Book" panose="020B0503020102020204"/>
              </a:rPr>
              <a:t>Wissam Nazeer Wassouf, Ramez Alkhatib, Kamal Salloum &amp; Shadi Balloul </a:t>
            </a:r>
            <a:r>
              <a:rPr lang="en-IN" sz="2400" dirty="0">
                <a:latin typeface="Franklin Gothic Book" panose="020B0503020102020204"/>
              </a:rPr>
              <a:t> et al. (20</a:t>
            </a:r>
            <a:r>
              <a:rPr lang="en-US" altLang="en-IN" sz="2400" dirty="0">
                <a:latin typeface="Franklin Gothic Book" panose="020B0503020102020204"/>
              </a:rPr>
              <a:t>20</a:t>
            </a:r>
            <a:r>
              <a:rPr lang="en-IN" sz="2400" dirty="0">
                <a:latin typeface="Franklin Gothic Book" panose="020B0503020102020204"/>
              </a:rPr>
              <a:t>): "</a:t>
            </a:r>
            <a:r>
              <a:rPr lang="en-US" altLang="en-GB" sz="2400" dirty="0">
                <a:latin typeface="Franklin Gothic Book" panose="020B0503020102020204"/>
              </a:rPr>
              <a:t>Predictive analytics using big data for increased customer loyalty: Syriatel Telecom Company case study,</a:t>
            </a:r>
            <a:r>
              <a:rPr lang="en-IN" sz="2400" dirty="0">
                <a:latin typeface="Franklin Gothic Book" panose="020B0503020102020204"/>
              </a:rPr>
              <a:t>" </a:t>
            </a:r>
            <a:r>
              <a:rPr lang="en-US" altLang="en-GB" sz="2400" dirty="0">
                <a:latin typeface="Franklin Gothic Book" panose="020B0503020102020204"/>
              </a:rPr>
              <a:t>Springer </a:t>
            </a:r>
            <a:endParaRPr lang="en-US" altLang="en-GB" sz="2400" dirty="0"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4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IN" sz="2400" dirty="0">
                <a:latin typeface="Franklin Gothic Book" panose="020B0503020102020204"/>
              </a:rPr>
              <a:t>GitHub Link:</a:t>
            </a:r>
            <a:r>
              <a:rPr lang="en-IN" sz="2400" dirty="0">
                <a:solidFill>
                  <a:srgbClr val="0070C0"/>
                </a:solidFill>
                <a:latin typeface="Franklin Gothic Book" panose="020B0503020102020204"/>
              </a:rPr>
              <a:t> </a:t>
            </a:r>
            <a:r>
              <a:rPr lang="en-US" altLang="en-GB" sz="2400" u="sng" dirty="0">
                <a:solidFill>
                  <a:srgbClr val="0070C0"/>
                </a:solidFill>
                <a:latin typeface="Franklin Gothic Book" panose="020B0503020102020204"/>
              </a:rPr>
              <a:t>https://github.com/rohanrodu/Marketing-Campaign-Performance</a:t>
            </a:r>
            <a:endParaRPr lang="en-US" altLang="en-GB" sz="24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400" u="sng" dirty="0">
              <a:solidFill>
                <a:srgbClr val="0070C0"/>
              </a:solidFill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  <a:endParaRPr lang="en-US" sz="4800" b="1">
              <a:solidFill>
                <a:srgbClr val="002060"/>
              </a:solidFill>
              <a:latin typeface="Arial" panose="020B0604020202020204"/>
              <a:cs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DESIGN_ID_1_OFFICE THEME" val="TmdBxN3j"/>
  <p:tag name="ARTICULATE_PROJECT_OPEN" val="0"/>
  <p:tag name="ARTICULATE_SLIDE_COUNT" val="9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4662</Words>
  <Application>WPS Presentation</Application>
  <PresentationFormat>Widescreen</PresentationFormat>
  <Paragraphs>113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Aptos</vt:lpstr>
      <vt:lpstr>Segoe UI</vt:lpstr>
      <vt:lpstr>Arial</vt:lpstr>
      <vt:lpstr>Franklin Gothic Book</vt:lpstr>
      <vt:lpstr>Franklin Gothic Book</vt:lpstr>
      <vt:lpstr>Calibri</vt:lpstr>
      <vt:lpstr>Aptos Display</vt:lpstr>
      <vt:lpstr>Segoe UI Variable Display</vt:lpstr>
      <vt:lpstr>Microsoft YaHei</vt:lpstr>
      <vt:lpstr>Arial Unicode MS</vt:lpstr>
      <vt:lpstr>1_Office Theme</vt:lpstr>
      <vt:lpstr>Custom Design</vt:lpstr>
      <vt:lpstr>2_Office Theme</vt:lpstr>
      <vt:lpstr>PowerPoint 演示文稿</vt:lpstr>
      <vt:lpstr>OUTLINE:</vt:lpstr>
      <vt:lpstr>Problem Statement:</vt:lpstr>
      <vt:lpstr>Proposed Solution:</vt:lpstr>
      <vt:lpstr>Proposed Solution:</vt:lpstr>
      <vt:lpstr>System  Approach:</vt:lpstr>
      <vt:lpstr>Algorithm &amp; Deployment:</vt:lpstr>
      <vt:lpstr>Algorithm &amp; Deployment:</vt:lpstr>
      <vt:lpstr>Result:</vt:lpstr>
      <vt:lpstr>Result:</vt:lpstr>
      <vt:lpstr>Conclusion:</vt:lpstr>
      <vt:lpstr>Future scope:</vt:lpstr>
      <vt:lpstr>References: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Muttu Mama</cp:lastModifiedBy>
  <cp:revision>127</cp:revision>
  <dcterms:created xsi:type="dcterms:W3CDTF">2024-05-21T11:55:00Z</dcterms:created>
  <dcterms:modified xsi:type="dcterms:W3CDTF">2026-01-21T17:57:05Z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FB875E0286494907903A59C44CAA47F2_13</vt:lpwstr>
  </property>
  <property fmtid="{D5CDD505-2E9C-101B-9397-08002B2CF9AE}" pid="5" name="KSOProductBuildVer">
    <vt:lpwstr>2057-12.2.0.23197</vt:lpwstr>
  </property>
</Properties>
</file>